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9" r:id="rId3"/>
    <p:sldId id="271" r:id="rId4"/>
    <p:sldId id="270" r:id="rId5"/>
    <p:sldId id="260" r:id="rId6"/>
    <p:sldId id="261" r:id="rId7"/>
    <p:sldId id="262" r:id="rId8"/>
    <p:sldId id="269" r:id="rId9"/>
    <p:sldId id="263" r:id="rId10"/>
    <p:sldId id="264" r:id="rId11"/>
    <p:sldId id="266" r:id="rId12"/>
    <p:sldId id="265" r:id="rId13"/>
    <p:sldId id="267" r:id="rId14"/>
    <p:sldId id="273" r:id="rId15"/>
    <p:sldId id="272" r:id="rId16"/>
    <p:sldId id="268" r:id="rId17"/>
  </p:sldIdLst>
  <p:sldSz cx="9906000" cy="6858000" type="A4"/>
  <p:notesSz cx="6858000" cy="9144000"/>
  <p:embeddedFontLst>
    <p:embeddedFont>
      <p:font typeface="나눔스퀘어OTF ExtraBold" panose="020B0600000101010101" pitchFamily="34" charset="-127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747775"/>
          </p15:clr>
        </p15:guide>
        <p15:guide id="2" pos="31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B5ED06-866E-4336-93A0-23A5212CFA68}">
  <a:tblStyle styleId="{DFB5ED06-866E-4336-93A0-23A5212CFA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89"/>
    <p:restoredTop sz="94690"/>
  </p:normalViewPr>
  <p:slideViewPr>
    <p:cSldViewPr snapToGrid="0">
      <p:cViewPr>
        <p:scale>
          <a:sx n="109" d="100"/>
          <a:sy n="109" d="100"/>
        </p:scale>
        <p:origin x="224" y="2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4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5e07b4b4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5e07b4b4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5e07b4b4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5e07b4b4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5e07b4b4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5e07b4b4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5e07b4b4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5e07b4b4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5e07b4b4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5e07b4b4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5e07b4b4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5e07b4b4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37684" y="992767"/>
            <a:ext cx="923065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6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6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6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6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6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6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6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6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6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37675" y="3778833"/>
            <a:ext cx="923065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37675" y="2867800"/>
            <a:ext cx="923065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Ref idx="1001">
        <a:schemeClr val="bg1"/>
      </p:bgRef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37675" y="593367"/>
            <a:ext cx="923065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나눔스퀘어OTF ExtraBold" panose="020B0600000101010101" pitchFamily="34" charset="-127"/>
                <a:ea typeface="나눔스퀘어OTF ExtraBold" panose="020B0600000101010101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37675" y="1536633"/>
            <a:ext cx="923065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95285" lvl="0" indent="-371464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90570" lvl="1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485854" lvl="2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981139" lvl="3" indent="-3439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476424" lvl="4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971709" lvl="5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66993" lvl="6" indent="-3439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962278" lvl="7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457563" lvl="8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37675" y="593367"/>
            <a:ext cx="923065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37675" y="1536633"/>
            <a:ext cx="4333225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95285" lvl="0" indent="-343948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17"/>
            </a:lvl1pPr>
            <a:lvl2pPr marL="990570" lvl="1" indent="-3301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00"/>
            </a:lvl2pPr>
            <a:lvl3pPr marL="1485854" lvl="2" indent="-3301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00"/>
            </a:lvl3pPr>
            <a:lvl4pPr marL="1981139" lvl="3" indent="-3301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00"/>
            </a:lvl4pPr>
            <a:lvl5pPr marL="2476424" lvl="4" indent="-3301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00"/>
            </a:lvl5pPr>
            <a:lvl6pPr marL="2971709" lvl="5" indent="-3301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00"/>
            </a:lvl6pPr>
            <a:lvl7pPr marL="3466993" lvl="6" indent="-3301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00"/>
            </a:lvl7pPr>
            <a:lvl8pPr marL="3962278" lvl="7" indent="-3301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00"/>
            </a:lvl8pPr>
            <a:lvl9pPr marL="4457563" lvl="8" indent="-3301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235100" y="1536633"/>
            <a:ext cx="4333225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95285" lvl="0" indent="-343948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17"/>
            </a:lvl1pPr>
            <a:lvl2pPr marL="990570" lvl="1" indent="-3301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00"/>
            </a:lvl2pPr>
            <a:lvl3pPr marL="1485854" lvl="2" indent="-3301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00"/>
            </a:lvl3pPr>
            <a:lvl4pPr marL="1981139" lvl="3" indent="-3301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00"/>
            </a:lvl4pPr>
            <a:lvl5pPr marL="2476424" lvl="4" indent="-3301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00"/>
            </a:lvl5pPr>
            <a:lvl6pPr marL="2971709" lvl="5" indent="-3301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00"/>
            </a:lvl6pPr>
            <a:lvl7pPr marL="3466993" lvl="6" indent="-3301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00"/>
            </a:lvl7pPr>
            <a:lvl8pPr marL="3962278" lvl="7" indent="-3301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00"/>
            </a:lvl8pPr>
            <a:lvl9pPr marL="4457563" lvl="8" indent="-3301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37675" y="593367"/>
            <a:ext cx="923065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37675" y="740800"/>
            <a:ext cx="3042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37675" y="1852800"/>
            <a:ext cx="3042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95285" lvl="0" indent="-3301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00"/>
            </a:lvl1pPr>
            <a:lvl2pPr marL="990570" lvl="1" indent="-3301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00"/>
            </a:lvl2pPr>
            <a:lvl3pPr marL="1485854" lvl="2" indent="-3301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00"/>
            </a:lvl3pPr>
            <a:lvl4pPr marL="1981139" lvl="3" indent="-3301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00"/>
            </a:lvl4pPr>
            <a:lvl5pPr marL="2476424" lvl="4" indent="-3301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00"/>
            </a:lvl5pPr>
            <a:lvl6pPr marL="2971709" lvl="5" indent="-3301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00"/>
            </a:lvl6pPr>
            <a:lvl7pPr marL="3466993" lvl="6" indent="-3301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00"/>
            </a:lvl7pPr>
            <a:lvl8pPr marL="3962278" lvl="7" indent="-3301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300"/>
            </a:lvl8pPr>
            <a:lvl9pPr marL="4457563" lvl="8" indent="-3301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31104" y="600200"/>
            <a:ext cx="689845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953000" y="-167"/>
            <a:ext cx="4953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8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87625" y="1644233"/>
            <a:ext cx="43823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55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55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55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55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55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55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55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55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55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87625" y="3737433"/>
            <a:ext cx="43823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2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2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2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2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2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2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2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2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275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351125" y="965433"/>
            <a:ext cx="415675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95285" lvl="0" indent="-371464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90570" lvl="1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485854" lvl="2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981139" lvl="3" indent="-3439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476424" lvl="4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971709" lvl="5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66993" lvl="6" indent="-3439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962278" lvl="7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457563" lvl="8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37675" y="5640767"/>
            <a:ext cx="64987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95285" lvl="0" indent="-24764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37675" y="1474833"/>
            <a:ext cx="923065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37675" y="4202967"/>
            <a:ext cx="923065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95285" lvl="0" indent="-371464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90570" lvl="1" indent="-343948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485854" lvl="2" indent="-34394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981139" lvl="3" indent="-343948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476424" lvl="4" indent="-343948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971709" lvl="5" indent="-34394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66993" lvl="6" indent="-343948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962278" lvl="7" indent="-343948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457563" lvl="8" indent="-34394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37675" y="593367"/>
            <a:ext cx="923065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7675" y="1536633"/>
            <a:ext cx="923065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78496" y="6217623"/>
            <a:ext cx="594425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83">
                <a:solidFill>
                  <a:schemeClr val="dk2"/>
                </a:solidFill>
              </a:defRPr>
            </a:lvl1pPr>
            <a:lvl2pPr lvl="1" algn="r">
              <a:buNone/>
              <a:defRPr sz="1083">
                <a:solidFill>
                  <a:schemeClr val="dk2"/>
                </a:solidFill>
              </a:defRPr>
            </a:lvl2pPr>
            <a:lvl3pPr lvl="2" algn="r">
              <a:buNone/>
              <a:defRPr sz="1083">
                <a:solidFill>
                  <a:schemeClr val="dk2"/>
                </a:solidFill>
              </a:defRPr>
            </a:lvl3pPr>
            <a:lvl4pPr lvl="3" algn="r">
              <a:buNone/>
              <a:defRPr sz="1083">
                <a:solidFill>
                  <a:schemeClr val="dk2"/>
                </a:solidFill>
              </a:defRPr>
            </a:lvl4pPr>
            <a:lvl5pPr lvl="4" algn="r">
              <a:buNone/>
              <a:defRPr sz="1083">
                <a:solidFill>
                  <a:schemeClr val="dk2"/>
                </a:solidFill>
              </a:defRPr>
            </a:lvl5pPr>
            <a:lvl6pPr lvl="5" algn="r">
              <a:buNone/>
              <a:defRPr sz="1083">
                <a:solidFill>
                  <a:schemeClr val="dk2"/>
                </a:solidFill>
              </a:defRPr>
            </a:lvl6pPr>
            <a:lvl7pPr lvl="6" algn="r">
              <a:buNone/>
              <a:defRPr sz="1083">
                <a:solidFill>
                  <a:schemeClr val="dk2"/>
                </a:solidFill>
              </a:defRPr>
            </a:lvl7pPr>
            <a:lvl8pPr lvl="7" algn="r">
              <a:buNone/>
              <a:defRPr sz="1083">
                <a:solidFill>
                  <a:schemeClr val="dk2"/>
                </a:solidFill>
              </a:defRPr>
            </a:lvl8pPr>
            <a:lvl9pPr lvl="8" algn="r">
              <a:buNone/>
              <a:defRPr sz="108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58962" y="640350"/>
            <a:ext cx="9230650" cy="1243775"/>
          </a:xfrm>
          <a:prstGeom prst="rect">
            <a:avLst/>
          </a:prstGeom>
        </p:spPr>
        <p:txBody>
          <a:bodyPr spcFirstLastPara="1" wrap="square" lIns="99044" tIns="99044" rIns="99044" bIns="99044" anchor="b" anchorCtr="0">
            <a:normAutofit/>
          </a:bodyPr>
          <a:lstStyle/>
          <a:p>
            <a:r>
              <a:rPr lang="en-US" sz="6600" dirty="0" err="1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SF Pro Semibold" pitchFamily="2" charset="0"/>
                <a:sym typeface="Playfair Display"/>
              </a:rPr>
              <a:t>웹</a:t>
            </a:r>
            <a:r>
              <a:rPr lang="en-US" sz="66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SF Pro Semibold" pitchFamily="2" charset="0"/>
                <a:sym typeface="Playfair Display"/>
              </a:rPr>
              <a:t> </a:t>
            </a:r>
            <a:r>
              <a:rPr lang="en-US" sz="6600" dirty="0" err="1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SF Pro Semibold" pitchFamily="2" charset="0"/>
                <a:sym typeface="Playfair Display"/>
              </a:rPr>
              <a:t>프로그래밍</a:t>
            </a:r>
            <a:r>
              <a:rPr lang="en-US" sz="66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SF Pro Semibold" pitchFamily="2" charset="0"/>
                <a:sym typeface="Playfair Display"/>
              </a:rPr>
              <a:t> </a:t>
            </a:r>
            <a:r>
              <a:rPr lang="en-US" altLang="ko-KR" sz="66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SF Pro Semibold" pitchFamily="2" charset="0"/>
                <a:sym typeface="Playfair Display"/>
              </a:rPr>
              <a:t>3</a:t>
            </a:r>
            <a:r>
              <a:rPr lang="ko-KR" altLang="en-US" sz="66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SF Pro Semibold" pitchFamily="2" charset="0"/>
                <a:sym typeface="Playfair Display"/>
              </a:rPr>
              <a:t>조</a:t>
            </a:r>
            <a:endParaRPr sz="660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  <a:cs typeface="Playfair Display"/>
              <a:sym typeface="Playfair Display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0" y="4792186"/>
            <a:ext cx="1215342" cy="2239434"/>
          </a:xfrm>
          <a:prstGeom prst="rect">
            <a:avLst/>
          </a:prstGeom>
        </p:spPr>
        <p:txBody>
          <a:bodyPr spcFirstLastPara="1" wrap="square" lIns="99044" tIns="99044" rIns="99044" bIns="99044" anchor="t" anchorCtr="0">
            <a:normAutofit lnSpcReduction="10000"/>
          </a:bodyPr>
          <a:lstStyle/>
          <a:p>
            <a:pPr marL="0" indent="0" algn="l"/>
            <a:r>
              <a:rPr lang="ko" altLang="en-US" sz="195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Noto Serif Myanmar ExtLt" panose="02020302060505020204" pitchFamily="18" charset="0"/>
              </a:rPr>
              <a:t>이동렬</a:t>
            </a:r>
            <a:endParaRPr sz="195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  <a:cs typeface="Noto Serif Myanmar ExtLt" panose="02020302060505020204" pitchFamily="18" charset="0"/>
            </a:endParaRPr>
          </a:p>
          <a:p>
            <a:pPr marL="0" indent="0" algn="l"/>
            <a:r>
              <a:rPr lang="ko" altLang="en-US" sz="195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Noto Serif Myanmar ExtLt" panose="02020302060505020204" pitchFamily="18" charset="0"/>
              </a:rPr>
              <a:t>유재상</a:t>
            </a:r>
            <a:endParaRPr lang="en-US" altLang="ko" sz="195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  <a:cs typeface="Noto Serif Myanmar ExtLt" panose="02020302060505020204" pitchFamily="18" charset="0"/>
            </a:endParaRPr>
          </a:p>
          <a:p>
            <a:pPr marL="0" indent="0" algn="l"/>
            <a:r>
              <a:rPr lang="ko" altLang="en-US" sz="195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Noto Serif Myanmar ExtLt" panose="02020302060505020204" pitchFamily="18" charset="0"/>
              </a:rPr>
              <a:t>노현서</a:t>
            </a:r>
            <a:endParaRPr lang="en-US" altLang="ko" sz="195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  <a:cs typeface="Noto Serif Myanmar ExtLt" panose="02020302060505020204" pitchFamily="18" charset="0"/>
            </a:endParaRPr>
          </a:p>
          <a:p>
            <a:pPr marL="0" indent="0" algn="l"/>
            <a:r>
              <a:rPr lang="ko" altLang="en-US" sz="195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Noto Serif Myanmar ExtLt" panose="02020302060505020204" pitchFamily="18" charset="0"/>
              </a:rPr>
              <a:t>김경완</a:t>
            </a:r>
            <a:endParaRPr lang="en-US" altLang="ko" sz="195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  <a:cs typeface="Noto Serif Myanmar ExtLt" panose="02020302060505020204" pitchFamily="18" charset="0"/>
            </a:endParaRPr>
          </a:p>
          <a:p>
            <a:pPr marL="0" indent="0" algn="l"/>
            <a:r>
              <a:rPr lang="ko" altLang="en-US" sz="195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Noto Serif Myanmar ExtLt" panose="02020302060505020204" pitchFamily="18" charset="0"/>
              </a:rPr>
              <a:t>이우형</a:t>
            </a:r>
            <a:endParaRPr lang="en-US" altLang="ko" sz="195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  <a:cs typeface="Noto Serif Myanmar ExtLt" panose="02020302060505020204" pitchFamily="18" charset="0"/>
            </a:endParaRPr>
          </a:p>
          <a:p>
            <a:pPr marL="0" indent="0" algn="l"/>
            <a:r>
              <a:rPr lang="ko-KR" altLang="en-US" sz="1950" dirty="0" err="1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Noto Serif Myanmar ExtLt" panose="02020302060505020204" pitchFamily="18" charset="0"/>
              </a:rPr>
              <a:t>이채현</a:t>
            </a:r>
            <a:endParaRPr lang="en-US" altLang="ko-KR" sz="195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  <a:cs typeface="Noto Serif Myanmar ExtLt" panose="02020302060505020204" pitchFamily="18" charset="0"/>
            </a:endParaRPr>
          </a:p>
          <a:p>
            <a:pPr marL="0" indent="0" algn="l"/>
            <a:r>
              <a:rPr lang="ko-KR" altLang="en-US" sz="195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  <a:cs typeface="Noto Serif Myanmar ExtLt" panose="02020302060505020204" pitchFamily="18" charset="0"/>
              </a:rPr>
              <a:t>남현우</a:t>
            </a:r>
            <a:endParaRPr sz="195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  <a:cs typeface="Noto Serif Myanmar ExtLt" panose="0202030206050502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E72EC5-3C93-8CC5-19E1-2890C2C803E1}"/>
              </a:ext>
            </a:extLst>
          </p:cNvPr>
          <p:cNvSpPr txBox="1"/>
          <p:nvPr/>
        </p:nvSpPr>
        <p:spPr>
          <a:xfrm>
            <a:off x="2974695" y="3198167"/>
            <a:ext cx="3402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주제 </a:t>
            </a:r>
            <a:r>
              <a:rPr kumimoji="1" lang="en-US" altLang="ko-KR" sz="24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: Dining</a:t>
            </a:r>
            <a:endParaRPr kumimoji="1" lang="ko-KR" altLang="en-US" sz="240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37675" y="955235"/>
            <a:ext cx="9230650" cy="620425"/>
          </a:xfrm>
          <a:prstGeom prst="rect">
            <a:avLst/>
          </a:prstGeom>
        </p:spPr>
        <p:txBody>
          <a:bodyPr spcFirstLastPara="1" wrap="square" lIns="99044" tIns="99044" rIns="99044" bIns="99044" anchor="t" anchorCtr="0">
            <a:noAutofit/>
          </a:bodyPr>
          <a:lstStyle/>
          <a:p>
            <a:r>
              <a:rPr lang="ko-KR" altLang="en-US" sz="40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목차</a:t>
            </a:r>
            <a:endParaRPr sz="400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37675" y="1891452"/>
            <a:ext cx="9230650" cy="3701100"/>
          </a:xfrm>
          <a:prstGeom prst="rect">
            <a:avLst/>
          </a:prstGeom>
        </p:spPr>
        <p:txBody>
          <a:bodyPr spcFirstLastPara="1" wrap="square" lIns="99044" tIns="99044" rIns="99044" bIns="99044" anchor="t" anchorCtr="0">
            <a:normAutofit/>
          </a:bodyPr>
          <a:lstStyle/>
          <a:p>
            <a:pPr marL="371464">
              <a:spcAft>
                <a:spcPts val="1300"/>
              </a:spcAft>
              <a:buAutoNum type="arabicPeriod"/>
            </a:pPr>
            <a:r>
              <a:rPr lang="ko-KR" altLang="en-US" sz="32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주제 소개 </a:t>
            </a:r>
            <a:endParaRPr lang="en-US" altLang="ko-KR" sz="320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  <a:p>
            <a:pPr marL="371464">
              <a:spcAft>
                <a:spcPts val="1300"/>
              </a:spcAft>
              <a:buAutoNum type="arabicPeriod"/>
            </a:pPr>
            <a:r>
              <a:rPr lang="ko-KR" altLang="en-US" sz="32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개발과정</a:t>
            </a:r>
            <a:endParaRPr lang="en-US" altLang="ko-KR" sz="320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  <a:p>
            <a:pPr marL="371464">
              <a:spcAft>
                <a:spcPts val="1300"/>
              </a:spcAft>
              <a:buAutoNum type="arabicPeriod"/>
            </a:pPr>
            <a:r>
              <a:rPr lang="ko-KR" altLang="en-US" sz="32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홈페이지 디자인 구성</a:t>
            </a:r>
            <a:endParaRPr lang="en-US" altLang="ko-KR" sz="320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  <a:p>
            <a:pPr marL="371464">
              <a:spcAft>
                <a:spcPts val="1300"/>
              </a:spcAft>
              <a:buAutoNum type="arabicPeriod"/>
            </a:pPr>
            <a:r>
              <a:rPr lang="ko-KR" altLang="en-US" sz="32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화면 구성에 들어간 기능 설명</a:t>
            </a:r>
            <a:endParaRPr lang="en-US" sz="320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28A92F-D093-4663-2158-4461FC159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왜 ‘</a:t>
            </a:r>
            <a:r>
              <a:rPr lang="ko-KR" altLang="en-US" dirty="0" err="1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다이닝</a:t>
            </a: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’ 주제로 사이트를 만들었는가</a:t>
            </a:r>
            <a:r>
              <a:rPr lang="en-US" altLang="ko-KR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?</a:t>
            </a:r>
            <a:endParaRPr kumimoji="1" lang="ko-KR" altLang="en-US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EE39AD-C5ED-BE35-5F8C-12C598EC2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누구나 공감하고 소통할 수 있는 친근한 주제</a:t>
            </a:r>
          </a:p>
          <a:p>
            <a:r>
              <a:rPr lang="ko-KR" altLang="en-US" sz="28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혼밥</a:t>
            </a:r>
            <a:r>
              <a:rPr lang="en-US" altLang="ko-KR" sz="28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, </a:t>
            </a:r>
            <a:r>
              <a:rPr lang="ko-KR" altLang="en-US" sz="2800" dirty="0" err="1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홈카페</a:t>
            </a:r>
            <a:r>
              <a:rPr lang="en-US" altLang="ko-KR" sz="28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, </a:t>
            </a:r>
            <a:r>
              <a:rPr lang="ko-KR" altLang="en-US" sz="28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브런치 등 현대인의 라이프스타일과 잘 어울림</a:t>
            </a:r>
          </a:p>
          <a:p>
            <a:r>
              <a:rPr lang="ko-KR" altLang="en-US" sz="28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식사를 넘어 경험과 취향을 표현할 수 있는 콘텐츠</a:t>
            </a:r>
          </a:p>
          <a:p>
            <a:r>
              <a:rPr lang="ko-KR" altLang="en-US" sz="28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레시피</a:t>
            </a:r>
            <a:r>
              <a:rPr lang="en-US" altLang="ko-KR" sz="28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, </a:t>
            </a:r>
            <a:r>
              <a:rPr lang="ko-KR" altLang="en-US" sz="28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사진</a:t>
            </a:r>
            <a:r>
              <a:rPr lang="en-US" altLang="ko-KR" sz="28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, </a:t>
            </a:r>
            <a:r>
              <a:rPr lang="ko-KR" altLang="en-US" sz="28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리뷰 등 다양한 콘텐츠로 확장 가능</a:t>
            </a:r>
          </a:p>
        </p:txBody>
      </p:sp>
    </p:spTree>
    <p:extLst>
      <p:ext uri="{BB962C8B-B14F-4D97-AF65-F5344CB8AC3E}">
        <p14:creationId xmlns:p14="http://schemas.microsoft.com/office/powerpoint/2010/main" val="47953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F46BB3-D938-2303-C239-2D9078BFF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376391"/>
            <a:ext cx="9230650" cy="763600"/>
          </a:xfrm>
        </p:spPr>
        <p:txBody>
          <a:bodyPr>
            <a:normAutofit fontScale="90000"/>
          </a:bodyPr>
          <a:lstStyle/>
          <a:p>
            <a:r>
              <a:rPr lang="ko-KR" altLang="en-US" sz="40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개발 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CE787B-7521-8C15-D2EF-6DD622515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75" y="1601570"/>
            <a:ext cx="3497298" cy="4663063"/>
          </a:xfrm>
          <a:prstGeom prst="rect">
            <a:avLst/>
          </a:prstGeom>
          <a:ln w="161925" cap="sq">
            <a:solidFill>
              <a:schemeClr val="tx1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19033A1-9493-890C-23C8-73592F458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954" y="1601570"/>
            <a:ext cx="5373143" cy="466306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851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37675" y="52548"/>
            <a:ext cx="9230650" cy="620425"/>
          </a:xfrm>
          <a:prstGeom prst="rect">
            <a:avLst/>
          </a:prstGeom>
        </p:spPr>
        <p:txBody>
          <a:bodyPr spcFirstLastPara="1" wrap="square" lIns="99044" tIns="99044" rIns="99044" bIns="99044" anchor="t" anchorCtr="0">
            <a:normAutofit fontScale="90000"/>
          </a:bodyPr>
          <a:lstStyle/>
          <a:p>
            <a:r>
              <a:rPr lang="ko-KR" altLang="en-US" sz="4400" dirty="0" err="1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첫화면</a:t>
            </a:r>
            <a:endParaRPr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B9D7B2-3B8F-D33F-F89D-148077D5E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41" y="3320013"/>
            <a:ext cx="3782292" cy="2696040"/>
          </a:xfrm>
          <a:prstGeom prst="rect">
            <a:avLst/>
          </a:prstGeom>
          <a:ln w="107950"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5D0C29E-FF73-5A0B-CBA4-F14827739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91948"/>
            <a:ext cx="5856686" cy="1456424"/>
          </a:xfrm>
          <a:prstGeom prst="rect">
            <a:avLst/>
          </a:prstGeom>
          <a:ln w="107950"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37FCA14-9CD5-2252-8A24-E3A0FD749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8063" y="2948866"/>
            <a:ext cx="4113627" cy="1260764"/>
          </a:xfrm>
          <a:prstGeom prst="rect">
            <a:avLst/>
          </a:prstGeom>
          <a:ln w="107950"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70CD32-3DC4-453F-D693-2751639F2425}"/>
              </a:ext>
            </a:extLst>
          </p:cNvPr>
          <p:cNvSpPr/>
          <p:nvPr/>
        </p:nvSpPr>
        <p:spPr>
          <a:xfrm>
            <a:off x="2889933" y="5505883"/>
            <a:ext cx="376592" cy="160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78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B41DEC7-1D0A-87B9-6D69-4BEC2F5F0336}"/>
              </a:ext>
            </a:extLst>
          </p:cNvPr>
          <p:cNvCxnSpPr>
            <a:endCxn id="16" idx="3"/>
          </p:cNvCxnSpPr>
          <p:nvPr/>
        </p:nvCxnSpPr>
        <p:spPr>
          <a:xfrm flipH="1">
            <a:off x="3266524" y="4209629"/>
            <a:ext cx="3209217" cy="12962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FCBEFFC-98F9-6E32-9FDB-0FF4ABA40C6E}"/>
              </a:ext>
            </a:extLst>
          </p:cNvPr>
          <p:cNvCxnSpPr/>
          <p:nvPr/>
        </p:nvCxnSpPr>
        <p:spPr>
          <a:xfrm>
            <a:off x="2775317" y="2648372"/>
            <a:ext cx="556701" cy="1089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288E8E-4503-AFB1-7576-B3561BFBB9B4}"/>
              </a:ext>
            </a:extLst>
          </p:cNvPr>
          <p:cNvSpPr/>
          <p:nvPr/>
        </p:nvSpPr>
        <p:spPr>
          <a:xfrm>
            <a:off x="3086415" y="3737539"/>
            <a:ext cx="556701" cy="1220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78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37675" y="213460"/>
            <a:ext cx="9230650" cy="620425"/>
          </a:xfrm>
          <a:prstGeom prst="rect">
            <a:avLst/>
          </a:prstGeom>
        </p:spPr>
        <p:txBody>
          <a:bodyPr spcFirstLastPara="1" wrap="square" lIns="99044" tIns="99044" rIns="99044" bIns="99044" anchor="t" anchorCtr="0">
            <a:normAutofit fontScale="90000"/>
          </a:bodyPr>
          <a:lstStyle/>
          <a:p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위치 화면</a:t>
            </a:r>
            <a:endParaRPr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17D51C-CADA-8DCE-3685-04F7656CC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643" y="1003286"/>
            <a:ext cx="5599357" cy="5810654"/>
          </a:xfrm>
          <a:prstGeom prst="rect">
            <a:avLst/>
          </a:prstGeom>
          <a:ln w="60325"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1F0F76-84EE-A899-7062-D8CBF4D7C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2" y="664485"/>
            <a:ext cx="4334289" cy="999260"/>
          </a:xfrm>
          <a:prstGeom prst="rect">
            <a:avLst/>
          </a:prstGeom>
          <a:ln w="53975">
            <a:solidFill>
              <a:schemeClr val="tx1"/>
            </a:solidFill>
          </a:ln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2D2BA16-6B67-085B-B2D9-11F1A36E9E08}"/>
              </a:ext>
            </a:extLst>
          </p:cNvPr>
          <p:cNvCxnSpPr>
            <a:cxnSpLocks/>
          </p:cNvCxnSpPr>
          <p:nvPr/>
        </p:nvCxnSpPr>
        <p:spPr>
          <a:xfrm>
            <a:off x="2249996" y="1708277"/>
            <a:ext cx="2172555" cy="1426543"/>
          </a:xfrm>
          <a:prstGeom prst="straightConnector1">
            <a:avLst/>
          </a:prstGeom>
          <a:ln w="984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2BF969-4F50-E63C-35A1-2FF9AF547F76}"/>
              </a:ext>
            </a:extLst>
          </p:cNvPr>
          <p:cNvSpPr/>
          <p:nvPr/>
        </p:nvSpPr>
        <p:spPr>
          <a:xfrm>
            <a:off x="4527640" y="1543261"/>
            <a:ext cx="5189096" cy="3183118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8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37675" y="71378"/>
            <a:ext cx="9230650" cy="620425"/>
          </a:xfrm>
          <a:prstGeom prst="rect">
            <a:avLst/>
          </a:prstGeom>
        </p:spPr>
        <p:txBody>
          <a:bodyPr spcFirstLastPara="1" wrap="square" lIns="99044" tIns="99044" rIns="99044" bIns="99044" anchor="t" anchorCtr="0">
            <a:normAutofit fontScale="90000"/>
          </a:bodyPr>
          <a:lstStyle/>
          <a:p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셰프 소개 화면</a:t>
            </a:r>
            <a:endParaRPr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92A0E5-1372-9A41-4C85-B42E8780B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10" y="691803"/>
            <a:ext cx="4657690" cy="3226676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66D2F53-7291-E701-51CD-C2B8DE78C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039" y="3995609"/>
            <a:ext cx="6593253" cy="2657744"/>
          </a:xfrm>
          <a:prstGeom prst="rect">
            <a:avLst/>
          </a:prstGeom>
          <a:ln w="28575">
            <a:solidFill>
              <a:schemeClr val="tx1">
                <a:alpha val="99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70D7595-E1F7-ED7D-87DB-B15F6FF90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337" y="691803"/>
            <a:ext cx="4333377" cy="3226676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69DDA-92AF-AAB2-1AB8-A16EE35B1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75" y="89937"/>
            <a:ext cx="9230650" cy="763600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셰프 소개 화면</a:t>
            </a:r>
            <a:r>
              <a:rPr lang="en-US" altLang="ko-KR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(2)</a:t>
            </a:r>
            <a:endParaRPr lang="ko-KR" altLang="en-US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A3D1DF-1C4D-4E24-2A17-0BAED2CBC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25" y="3169957"/>
            <a:ext cx="5164750" cy="3688043"/>
          </a:xfrm>
          <a:prstGeom prst="rect">
            <a:avLst/>
          </a:prstGeom>
          <a:ln w="44450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CEA594-D405-50D5-2089-2ADFA3BE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53" y="631065"/>
            <a:ext cx="6583893" cy="233954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3868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37675" y="143545"/>
            <a:ext cx="9230650" cy="965519"/>
          </a:xfrm>
          <a:prstGeom prst="rect">
            <a:avLst/>
          </a:prstGeom>
        </p:spPr>
        <p:txBody>
          <a:bodyPr spcFirstLastPara="1" wrap="square" lIns="99044" tIns="99044" rIns="99044" bIns="99044" anchor="t" anchorCtr="0">
            <a:normAutofit/>
          </a:bodyPr>
          <a:lstStyle/>
          <a:p>
            <a:r>
              <a:rPr lang="ko-KR" altLang="en-US" sz="44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브랜드별 메뉴 소개 화면</a:t>
            </a:r>
            <a:endParaRPr sz="440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226688-4740-77B0-0E2F-B1F19B4FF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363" y="3168396"/>
            <a:ext cx="5747117" cy="274466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C874207-A54D-F20E-C67C-A9A585CEF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808" y="1745473"/>
            <a:ext cx="3719407" cy="112447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25A90E6-714F-B3C6-A067-D8566246D28C}"/>
              </a:ext>
            </a:extLst>
          </p:cNvPr>
          <p:cNvSpPr/>
          <p:nvPr/>
        </p:nvSpPr>
        <p:spPr>
          <a:xfrm>
            <a:off x="4322619" y="4122318"/>
            <a:ext cx="777743" cy="1154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78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66F2440-71B4-519A-6C75-AF23DAFA2613}"/>
              </a:ext>
            </a:extLst>
          </p:cNvPr>
          <p:cNvCxnSpPr/>
          <p:nvPr/>
        </p:nvCxnSpPr>
        <p:spPr>
          <a:xfrm>
            <a:off x="2779451" y="2869945"/>
            <a:ext cx="1543167" cy="19662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463A0D-71FA-1342-4893-6E937A0C744A}"/>
              </a:ext>
            </a:extLst>
          </p:cNvPr>
          <p:cNvSpPr/>
          <p:nvPr/>
        </p:nvSpPr>
        <p:spPr>
          <a:xfrm>
            <a:off x="4568301" y="3691677"/>
            <a:ext cx="1106010" cy="115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8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93000F8-A7CB-641D-836C-4C27B9021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1745473"/>
            <a:ext cx="4827635" cy="120121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43F89E3-4F5D-7B77-DF7F-8A88EDE090DC}"/>
              </a:ext>
            </a:extLst>
          </p:cNvPr>
          <p:cNvCxnSpPr>
            <a:endCxn id="9" idx="3"/>
          </p:cNvCxnSpPr>
          <p:nvPr/>
        </p:nvCxnSpPr>
        <p:spPr>
          <a:xfrm flipH="1">
            <a:off x="5674310" y="2869945"/>
            <a:ext cx="1509944" cy="879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74041" y="0"/>
            <a:ext cx="9230650" cy="1097298"/>
          </a:xfrm>
          <a:prstGeom prst="rect">
            <a:avLst/>
          </a:prstGeom>
        </p:spPr>
        <p:txBody>
          <a:bodyPr spcFirstLastPara="1" wrap="square" lIns="99044" tIns="99044" rIns="99044" bIns="99044" anchor="t" anchorCtr="0">
            <a:normAutofit/>
          </a:bodyPr>
          <a:lstStyle/>
          <a:p>
            <a:r>
              <a:rPr lang="ko-KR" altLang="en-US" sz="44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식당 예약 화면</a:t>
            </a:r>
            <a:endParaRPr sz="4400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ED03E5-CFD1-FFB7-3500-884F842E1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679" y="3429001"/>
            <a:ext cx="5582643" cy="265854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C06AC0B-847B-F781-3EFB-7353F7402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41" y="1483498"/>
            <a:ext cx="4353348" cy="155930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475BF2E-8BD0-5FE8-2759-5524B2878C6E}"/>
              </a:ext>
            </a:extLst>
          </p:cNvPr>
          <p:cNvSpPr/>
          <p:nvPr/>
        </p:nvSpPr>
        <p:spPr>
          <a:xfrm>
            <a:off x="3528501" y="4490724"/>
            <a:ext cx="1260764" cy="15042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8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F718E75-0483-D27B-538A-99BFF3622409}"/>
              </a:ext>
            </a:extLst>
          </p:cNvPr>
          <p:cNvCxnSpPr/>
          <p:nvPr/>
        </p:nvCxnSpPr>
        <p:spPr>
          <a:xfrm>
            <a:off x="2718009" y="3042800"/>
            <a:ext cx="810492" cy="14479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F8038B-A67D-39CC-2991-0FD329A13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92337"/>
            <a:ext cx="9230650" cy="1210534"/>
          </a:xfrm>
        </p:spPr>
        <p:txBody>
          <a:bodyPr>
            <a:normAutofit/>
          </a:bodyPr>
          <a:lstStyle/>
          <a:p>
            <a:r>
              <a:rPr lang="ko-KR" altLang="en-US" sz="40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예약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077F89-0110-47E3-D552-4A52FE9DB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200" y="2836200"/>
            <a:ext cx="4048282" cy="2786063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F0CE1B-2D7C-26F1-ACFB-14ADC151B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0" y="1968797"/>
            <a:ext cx="4573785" cy="516529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1E7BD9D-09C2-C91C-7C5C-1A82A1D57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799" y="1903906"/>
            <a:ext cx="2573319" cy="504572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47CB9EE-4A71-38D8-07A2-B28343055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00" y="4526518"/>
            <a:ext cx="2686733" cy="725370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B995DC-D4C2-36E2-4547-2167DE3091F9}"/>
              </a:ext>
            </a:extLst>
          </p:cNvPr>
          <p:cNvSpPr/>
          <p:nvPr/>
        </p:nvSpPr>
        <p:spPr>
          <a:xfrm>
            <a:off x="3252600" y="4168538"/>
            <a:ext cx="1786200" cy="3579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8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119AD6-A8C9-DB8D-B596-6CD6483FAED9}"/>
              </a:ext>
            </a:extLst>
          </p:cNvPr>
          <p:cNvSpPr/>
          <p:nvPr/>
        </p:nvSpPr>
        <p:spPr>
          <a:xfrm>
            <a:off x="5109000" y="4168538"/>
            <a:ext cx="1786200" cy="421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8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76DD47-85A9-0A95-DB40-57BF7A68A46E}"/>
              </a:ext>
            </a:extLst>
          </p:cNvPr>
          <p:cNvSpPr/>
          <p:nvPr/>
        </p:nvSpPr>
        <p:spPr>
          <a:xfrm>
            <a:off x="3252600" y="4659938"/>
            <a:ext cx="3712800" cy="48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8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04EAC79-2ADC-6885-11CE-A3F88641B6F8}"/>
              </a:ext>
            </a:extLst>
          </p:cNvPr>
          <p:cNvCxnSpPr>
            <a:stCxn id="7" idx="2"/>
          </p:cNvCxnSpPr>
          <p:nvPr/>
        </p:nvCxnSpPr>
        <p:spPr>
          <a:xfrm>
            <a:off x="2388293" y="2485326"/>
            <a:ext cx="989107" cy="16832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731AFD5-0E27-9EDA-EBCB-69828A8FEE79}"/>
              </a:ext>
            </a:extLst>
          </p:cNvPr>
          <p:cNvCxnSpPr/>
          <p:nvPr/>
        </p:nvCxnSpPr>
        <p:spPr>
          <a:xfrm flipH="1">
            <a:off x="6536400" y="2408478"/>
            <a:ext cx="1318200" cy="176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8B3D776-E37F-541E-4081-52279ABC447A}"/>
              </a:ext>
            </a:extLst>
          </p:cNvPr>
          <p:cNvCxnSpPr>
            <a:stCxn id="11" idx="3"/>
          </p:cNvCxnSpPr>
          <p:nvPr/>
        </p:nvCxnSpPr>
        <p:spPr>
          <a:xfrm>
            <a:off x="2788133" y="4889203"/>
            <a:ext cx="526867" cy="671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15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667083-9445-948A-00CF-607B0420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63909"/>
            <a:ext cx="9230650" cy="763600"/>
          </a:xfrm>
        </p:spPr>
        <p:txBody>
          <a:bodyPr>
            <a:normAutofit fontScale="90000"/>
          </a:bodyPr>
          <a:lstStyle/>
          <a:p>
            <a:r>
              <a:rPr lang="ko-KR" altLang="en-US" sz="40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리뷰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96C171-15AB-30FB-8310-ABF90EEB2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667" y="3460166"/>
            <a:ext cx="5557912" cy="263300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797372B-B04B-889F-1E18-AFF6F439FB70}"/>
              </a:ext>
            </a:extLst>
          </p:cNvPr>
          <p:cNvSpPr/>
          <p:nvPr/>
        </p:nvSpPr>
        <p:spPr>
          <a:xfrm>
            <a:off x="3975555" y="4253796"/>
            <a:ext cx="3110975" cy="2456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8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185A6A-396A-619B-83BA-DB362C4FD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406" y="1523565"/>
            <a:ext cx="2971661" cy="160118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8D97714-0DD9-12B1-C790-11734B0D39A6}"/>
              </a:ext>
            </a:extLst>
          </p:cNvPr>
          <p:cNvCxnSpPr/>
          <p:nvPr/>
        </p:nvCxnSpPr>
        <p:spPr>
          <a:xfrm>
            <a:off x="3539067" y="2903538"/>
            <a:ext cx="1210733" cy="1350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8128A759-12A8-610F-FD96-7CE95E762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746" y="1899295"/>
            <a:ext cx="4086579" cy="116405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6895ED-F8CC-0526-430A-41FB503A37D2}"/>
              </a:ext>
            </a:extLst>
          </p:cNvPr>
          <p:cNvSpPr/>
          <p:nvPr/>
        </p:nvSpPr>
        <p:spPr>
          <a:xfrm>
            <a:off x="3094602" y="4924623"/>
            <a:ext cx="581261" cy="808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8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5FC7ADB-37BA-605C-304C-D3FDB33D498F}"/>
              </a:ext>
            </a:extLst>
          </p:cNvPr>
          <p:cNvCxnSpPr/>
          <p:nvPr/>
        </p:nvCxnSpPr>
        <p:spPr>
          <a:xfrm flipH="1">
            <a:off x="3675863" y="3063350"/>
            <a:ext cx="4191630" cy="20741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85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33C92-62B0-0D0C-C7CB-BABECCBAD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401538"/>
            <a:ext cx="9230650" cy="763600"/>
          </a:xfrm>
        </p:spPr>
        <p:txBody>
          <a:bodyPr>
            <a:normAutofit fontScale="90000"/>
          </a:bodyPr>
          <a:lstStyle/>
          <a:p>
            <a:r>
              <a:rPr lang="ko-KR" altLang="en-US" sz="40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리뷰 작성 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7987EC-4F57-9809-6695-058E4C9F4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223" y="3131138"/>
            <a:ext cx="2934523" cy="2943524"/>
          </a:xfrm>
          <a:prstGeom prst="rect">
            <a:avLst/>
          </a:prstGeom>
          <a:solidFill>
            <a:schemeClr val="lt1"/>
          </a:solidFill>
          <a:ln w="44450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9590F5-AFA4-F7B8-9D10-BA118C432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9" y="1640957"/>
            <a:ext cx="8199946" cy="663391"/>
          </a:xfrm>
          <a:prstGeom prst="rect">
            <a:avLst/>
          </a:prstGeom>
          <a:ln w="44450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921728E-21D0-8DBD-AD73-F2D4481FE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341" y="2522747"/>
            <a:ext cx="6410659" cy="499192"/>
          </a:xfrm>
          <a:prstGeom prst="rect">
            <a:avLst/>
          </a:prstGeom>
          <a:ln w="44450"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A31AE3C-9DF3-752E-EBB4-C86CC35BB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89" y="3951969"/>
            <a:ext cx="2860740" cy="772807"/>
          </a:xfrm>
          <a:prstGeom prst="rect">
            <a:avLst/>
          </a:prstGeom>
          <a:ln w="44450"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E9878C-01D5-39CF-908F-198F09908BE0}"/>
              </a:ext>
            </a:extLst>
          </p:cNvPr>
          <p:cNvSpPr/>
          <p:nvPr/>
        </p:nvSpPr>
        <p:spPr>
          <a:xfrm>
            <a:off x="3205800" y="3669338"/>
            <a:ext cx="2659369" cy="21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8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9984E4-8AAB-410C-F95A-BD9557F8B500}"/>
              </a:ext>
            </a:extLst>
          </p:cNvPr>
          <p:cNvSpPr/>
          <p:nvPr/>
        </p:nvSpPr>
        <p:spPr>
          <a:xfrm>
            <a:off x="3205800" y="4059339"/>
            <a:ext cx="2722200" cy="21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8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3F4FB7-0048-C00D-7AB1-102695DAEAF5}"/>
              </a:ext>
            </a:extLst>
          </p:cNvPr>
          <p:cNvSpPr/>
          <p:nvPr/>
        </p:nvSpPr>
        <p:spPr>
          <a:xfrm>
            <a:off x="3205800" y="4496138"/>
            <a:ext cx="2659369" cy="21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8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7A06837-185D-0EA4-E912-21B159FBB22D}"/>
              </a:ext>
            </a:extLst>
          </p:cNvPr>
          <p:cNvCxnSpPr/>
          <p:nvPr/>
        </p:nvCxnSpPr>
        <p:spPr>
          <a:xfrm>
            <a:off x="2737800" y="2434405"/>
            <a:ext cx="881400" cy="1234933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4738572-8D26-AC76-CE5C-3B46C48E06D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865169" y="3021939"/>
            <a:ext cx="835502" cy="103740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F0AE8EE-AC7A-C6E8-3181-084F2A0C8717}"/>
              </a:ext>
            </a:extLst>
          </p:cNvPr>
          <p:cNvCxnSpPr/>
          <p:nvPr/>
        </p:nvCxnSpPr>
        <p:spPr>
          <a:xfrm>
            <a:off x="2963629" y="4496138"/>
            <a:ext cx="312372" cy="93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19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787F95-DE41-13A8-1B70-806AF92A7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2824460"/>
            <a:ext cx="9230650" cy="1677201"/>
          </a:xfrm>
        </p:spPr>
        <p:txBody>
          <a:bodyPr>
            <a:normAutofit/>
          </a:bodyPr>
          <a:lstStyle/>
          <a:p>
            <a:r>
              <a:rPr kumimoji="1" lang="ko-KR" altLang="en-US" sz="80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시연</a:t>
            </a:r>
          </a:p>
        </p:txBody>
      </p:sp>
    </p:spTree>
    <p:extLst>
      <p:ext uri="{BB962C8B-B14F-4D97-AF65-F5344CB8AC3E}">
        <p14:creationId xmlns:p14="http://schemas.microsoft.com/office/powerpoint/2010/main" val="1497880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8A57F-29CD-E8FA-BA6C-9D10FCB17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600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아쉬웠던 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173F4D-77E9-638E-092B-F0877F771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675" y="1536633"/>
            <a:ext cx="9230650" cy="3961490"/>
          </a:xfrm>
        </p:spPr>
        <p:txBody>
          <a:bodyPr>
            <a:normAutofit lnSpcReduction="10000"/>
          </a:bodyPr>
          <a:lstStyle/>
          <a:p>
            <a:endParaRPr kumimoji="1" lang="en-US" altLang="ko-KR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  <a:p>
            <a:pPr>
              <a:buClr>
                <a:schemeClr val="tx1"/>
              </a:buClr>
            </a:pPr>
            <a:r>
              <a:rPr lang="ko-KR" altLang="en-US" sz="2400" dirty="0">
                <a:solidFill>
                  <a:schemeClr val="accent4">
                    <a:lumMod val="50000"/>
                  </a:schemeClr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자바스크립트에 대한 이해부족</a:t>
            </a:r>
            <a:b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</a:b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동적인 기능</a:t>
            </a:r>
            <a:r>
              <a:rPr lang="en-US" altLang="ko-KR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(</a:t>
            </a: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검색 필터</a:t>
            </a:r>
            <a:r>
              <a:rPr lang="en-US" altLang="ko-KR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, </a:t>
            </a: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버튼 클릭 시 반응 등</a:t>
            </a:r>
            <a:r>
              <a:rPr lang="en-US" altLang="ko-KR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)</a:t>
            </a: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을 자유롭게 구현하지 못해</a:t>
            </a:r>
            <a:b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</a:b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정적인 페이지 구성에 그쳤던 점이 가장 아쉬움</a:t>
            </a:r>
            <a:endParaRPr lang="en-US" altLang="ko-KR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  <a:p>
            <a:pPr marL="123821" indent="0">
              <a:buClr>
                <a:schemeClr val="tx1"/>
              </a:buClr>
              <a:buNone/>
            </a:pPr>
            <a:endParaRPr lang="ko-KR" altLang="en-US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  <a:p>
            <a:pPr>
              <a:buClr>
                <a:schemeClr val="tx1"/>
              </a:buClr>
            </a:pPr>
            <a:r>
              <a:rPr lang="ko-KR" altLang="en-US" sz="2400" dirty="0">
                <a:solidFill>
                  <a:schemeClr val="accent4">
                    <a:lumMod val="50000"/>
                  </a:schemeClr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디자인 구현의 한계</a:t>
            </a:r>
            <a:br>
              <a:rPr lang="ko-KR" altLang="en-US" sz="2400" dirty="0">
                <a:solidFill>
                  <a:schemeClr val="accent4">
                    <a:lumMod val="50000"/>
                  </a:schemeClr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</a:br>
            <a:r>
              <a:rPr lang="ko-KR" altLang="en-US" dirty="0" err="1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피그마로</a:t>
            </a: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 구상한 디자인을 </a:t>
            </a:r>
            <a:r>
              <a:rPr lang="en-US" altLang="ko-KR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HTML/CSS</a:t>
            </a: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로 </a:t>
            </a:r>
            <a:r>
              <a:rPr lang="en-US" altLang="ko-KR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100% </a:t>
            </a: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구현하기 어려웠음</a:t>
            </a:r>
            <a:b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</a:b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특히 반응형 디자인이나 애니메이션 등은 구현에 제약이 있었음</a:t>
            </a:r>
            <a:endParaRPr lang="en-US" altLang="ko-KR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  <a:p>
            <a:pPr marL="123821" indent="0">
              <a:buClr>
                <a:schemeClr val="tx1"/>
              </a:buClr>
              <a:buNone/>
            </a:pPr>
            <a:endParaRPr lang="ko-KR" altLang="en-US" dirty="0">
              <a:solidFill>
                <a:srgbClr val="FFC000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  <a:p>
            <a:pPr>
              <a:buClr>
                <a:schemeClr val="tx1"/>
              </a:buClr>
            </a:pPr>
            <a:r>
              <a:rPr lang="ko-KR" altLang="en-US" sz="2400" dirty="0">
                <a:solidFill>
                  <a:schemeClr val="accent4">
                    <a:lumMod val="50000"/>
                  </a:schemeClr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코드 구조 관리 미숙</a:t>
            </a:r>
            <a:b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</a:b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여러 페이지를 만들면서 코드가 점점 </a:t>
            </a:r>
            <a:r>
              <a:rPr lang="ko-KR" altLang="en-US" dirty="0" err="1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복잡해졌고</a:t>
            </a:r>
            <a:r>
              <a:rPr lang="en-US" altLang="ko-KR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,</a:t>
            </a:r>
            <a:br>
              <a:rPr lang="en-US" altLang="ko-KR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</a:b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공통 요소</a:t>
            </a:r>
            <a:r>
              <a:rPr lang="en-US" altLang="ko-KR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(header, footer </a:t>
            </a: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등</a:t>
            </a:r>
            <a:r>
              <a:rPr lang="en-US" altLang="ko-KR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)</a:t>
            </a:r>
            <a:r>
              <a:rPr lang="ko-KR" altLang="en-US" dirty="0" err="1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를</a:t>
            </a:r>
            <a:r>
              <a:rPr lang="ko-KR" altLang="en-US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 반복 작성하는 비효율이 발생함</a:t>
            </a:r>
            <a:endParaRPr kumimoji="1"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168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12FA42-3D63-108F-E7A2-90371D5B67E9}"/>
              </a:ext>
            </a:extLst>
          </p:cNvPr>
          <p:cNvSpPr txBox="1"/>
          <p:nvPr/>
        </p:nvSpPr>
        <p:spPr>
          <a:xfrm>
            <a:off x="3567624" y="3104054"/>
            <a:ext cx="7043400" cy="2128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333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감사합니다</a:t>
            </a:r>
            <a:r>
              <a:rPr lang="en-US" altLang="ko-KR" sz="4333" dirty="0">
                <a:solidFill>
                  <a:srgbClr val="FFC000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!</a:t>
            </a:r>
          </a:p>
          <a:p>
            <a:endParaRPr lang="en-US" altLang="ko-KR" sz="1780" dirty="0">
              <a:solidFill>
                <a:srgbClr val="FFC000"/>
              </a:solidFill>
            </a:endParaRPr>
          </a:p>
          <a:p>
            <a:endParaRPr lang="en-US" altLang="ko-KR" sz="1780" dirty="0">
              <a:solidFill>
                <a:srgbClr val="FFC000"/>
              </a:solidFill>
            </a:endParaRPr>
          </a:p>
          <a:p>
            <a:endParaRPr lang="en-US" altLang="ko-KR" sz="1780" dirty="0">
              <a:solidFill>
                <a:srgbClr val="FFC000"/>
              </a:solidFill>
            </a:endParaRPr>
          </a:p>
          <a:p>
            <a:endParaRPr lang="en-US" altLang="ko-KR" sz="1780" dirty="0">
              <a:solidFill>
                <a:srgbClr val="FFC000"/>
              </a:solidFill>
            </a:endParaRPr>
          </a:p>
          <a:p>
            <a:endParaRPr lang="ko-KR" altLang="en-US" sz="178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85125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180</Words>
  <Application>Microsoft Macintosh PowerPoint</Application>
  <PresentationFormat>A4 용지(210x297mm)</PresentationFormat>
  <Paragraphs>41</Paragraphs>
  <Slides>16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APPLE SD GOTHIC NEO THIN</vt:lpstr>
      <vt:lpstr>나눔스퀘어OTF ExtraBold</vt:lpstr>
      <vt:lpstr>APPLE SD GOTHIC NEO THIN</vt:lpstr>
      <vt:lpstr>Simple Light</vt:lpstr>
      <vt:lpstr>웹 프로그래밍 3조</vt:lpstr>
      <vt:lpstr>목차</vt:lpstr>
      <vt:lpstr>왜 ‘다이닝’ 주제로 사이트를 만들었는가?</vt:lpstr>
      <vt:lpstr>개발 과정</vt:lpstr>
      <vt:lpstr>첫화면</vt:lpstr>
      <vt:lpstr>위치 화면</vt:lpstr>
      <vt:lpstr>셰프 소개 화면</vt:lpstr>
      <vt:lpstr>셰프 소개 화면(2)</vt:lpstr>
      <vt:lpstr>브랜드별 메뉴 소개 화면</vt:lpstr>
      <vt:lpstr>식당 예약 화면</vt:lpstr>
      <vt:lpstr>예약 화면</vt:lpstr>
      <vt:lpstr>리뷰 화면</vt:lpstr>
      <vt:lpstr>리뷰 작성 폼</vt:lpstr>
      <vt:lpstr>시연</vt:lpstr>
      <vt:lpstr>아쉬웠던 점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이우형</dc:creator>
  <cp:lastModifiedBy>유재상</cp:lastModifiedBy>
  <cp:revision>17</cp:revision>
  <cp:lastPrinted>2025-06-16T09:12:22Z</cp:lastPrinted>
  <dcterms:modified xsi:type="dcterms:W3CDTF">2025-06-16T09:13:28Z</dcterms:modified>
</cp:coreProperties>
</file>